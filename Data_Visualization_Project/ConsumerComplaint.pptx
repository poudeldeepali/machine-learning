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y="5143500" cx="9144000"/>
  <p:notesSz cx="6858000" cy="9144000"/>
  <p:embeddedFontLst>
    <p:embeddedFont>
      <p:font typeface="Raleway"/>
      <p:regular r:id="rId18"/>
      <p:bold r:id="rId19"/>
      <p:italic r:id="rId20"/>
      <p:boldItalic r:id="rId21"/>
    </p:embeddedFont>
    <p:embeddedFont>
      <p:font typeface="Inter Light"/>
      <p:regular r:id="rId22"/>
      <p:bold r:id="rId23"/>
      <p:italic r:id="rId24"/>
      <p:boldItalic r:id="rId25"/>
    </p:embeddedFont>
    <p:embeddedFont>
      <p:font typeface="Lato"/>
      <p:regular r:id="rId26"/>
      <p:bold r:id="rId27"/>
      <p:italic r:id="rId28"/>
      <p:boldItalic r:id="rId29"/>
    </p:embeddedFont>
    <p:embeddedFont>
      <p:font typeface="Inter"/>
      <p:regular r:id="rId30"/>
      <p:bold r:id="rId31"/>
      <p:italic r:id="rId32"/>
      <p:boldItalic r:id="rId33"/>
    </p:embeddedFont>
    <p:embeddedFont>
      <p:font typeface="Inter ExtraLight"/>
      <p:regular r:id="rId34"/>
      <p:bold r:id="rId35"/>
      <p:italic r:id="rId36"/>
      <p:boldItalic r:id="rId3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aleway-italic.fntdata"/><Relationship Id="rId22" Type="http://schemas.openxmlformats.org/officeDocument/2006/relationships/font" Target="fonts/InterLight-regular.fntdata"/><Relationship Id="rId21" Type="http://schemas.openxmlformats.org/officeDocument/2006/relationships/font" Target="fonts/Raleway-boldItalic.fntdata"/><Relationship Id="rId24" Type="http://schemas.openxmlformats.org/officeDocument/2006/relationships/font" Target="fonts/InterLight-italic.fntdata"/><Relationship Id="rId23" Type="http://schemas.openxmlformats.org/officeDocument/2006/relationships/font" Target="fonts/InterLight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Lato-regular.fntdata"/><Relationship Id="rId25" Type="http://schemas.openxmlformats.org/officeDocument/2006/relationships/font" Target="fonts/InterLight-boldItalic.fntdata"/><Relationship Id="rId28" Type="http://schemas.openxmlformats.org/officeDocument/2006/relationships/font" Target="fonts/Lato-italic.fntdata"/><Relationship Id="rId27" Type="http://schemas.openxmlformats.org/officeDocument/2006/relationships/font" Target="fonts/Lato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Lato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Inter-bold.fntdata"/><Relationship Id="rId30" Type="http://schemas.openxmlformats.org/officeDocument/2006/relationships/font" Target="fonts/Inter-regular.fntdata"/><Relationship Id="rId11" Type="http://schemas.openxmlformats.org/officeDocument/2006/relationships/slide" Target="slides/slide6.xml"/><Relationship Id="rId33" Type="http://schemas.openxmlformats.org/officeDocument/2006/relationships/font" Target="fonts/Inter-boldItalic.fntdata"/><Relationship Id="rId10" Type="http://schemas.openxmlformats.org/officeDocument/2006/relationships/slide" Target="slides/slide5.xml"/><Relationship Id="rId32" Type="http://schemas.openxmlformats.org/officeDocument/2006/relationships/font" Target="fonts/Inter-italic.fntdata"/><Relationship Id="rId13" Type="http://schemas.openxmlformats.org/officeDocument/2006/relationships/slide" Target="slides/slide8.xml"/><Relationship Id="rId35" Type="http://schemas.openxmlformats.org/officeDocument/2006/relationships/font" Target="fonts/InterExtraLight-bold.fntdata"/><Relationship Id="rId12" Type="http://schemas.openxmlformats.org/officeDocument/2006/relationships/slide" Target="slides/slide7.xml"/><Relationship Id="rId34" Type="http://schemas.openxmlformats.org/officeDocument/2006/relationships/font" Target="fonts/InterExtraLight-regular.fntdata"/><Relationship Id="rId15" Type="http://schemas.openxmlformats.org/officeDocument/2006/relationships/slide" Target="slides/slide10.xml"/><Relationship Id="rId37" Type="http://schemas.openxmlformats.org/officeDocument/2006/relationships/font" Target="fonts/InterExtraLight-boldItalic.fntdata"/><Relationship Id="rId14" Type="http://schemas.openxmlformats.org/officeDocument/2006/relationships/slide" Target="slides/slide9.xml"/><Relationship Id="rId36" Type="http://schemas.openxmlformats.org/officeDocument/2006/relationships/font" Target="fonts/InterExtraLight-italic.fntdata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font" Target="fonts/Raleway-bold.fntdata"/><Relationship Id="rId18" Type="http://schemas.openxmlformats.org/officeDocument/2006/relationships/font" Target="fonts/Raleway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a10e701c11_0_6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a10e701c11_0_6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a10e701c11_0_26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3a10e701c11_0_26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a10e701c11_0_20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3a10e701c11_0_20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a10e701c11_0_20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3a10e701c11_0_20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a10e701c11_0_25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3a10e701c11_0_25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a10e701c11_0_20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3a10e701c11_0_20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a10e701c11_0_10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3a10e701c11_0_10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a10e701c11_0_20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3a10e701c11_0_20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a10e701c11_0_25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a10e701c11_0_25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a10e701c11_0_27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" name="Google Shape;153;g3a10e701c11_0_27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a10e701c11_0_26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" name="Google Shape;160;g3a10e701c11_0_26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a10e701c11_0_27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3a10e701c11_0_27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lt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" name="Google Shape;14;p2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5" name="Google Shape;15;p2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oogle Shape;18;p3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9" name="Google Shape;19;p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" name="Google Shape;21;p3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5" name="Google Shape;25;p4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26" name="Google Shape;26;p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8" name="Google Shape;28;p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29" name="Google Shape;29;p4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3" name="Google Shape;33;p5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34" name="Google Shape;34;p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6" name="Google Shape;36;p5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37" name="Google Shape;37;p5"/>
          <p:cNvSpPr txBox="1"/>
          <p:nvPr>
            <p:ph idx="1" type="body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8" name="Google Shape;38;p5"/>
          <p:cNvSpPr txBox="1"/>
          <p:nvPr>
            <p:ph idx="2" type="body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9" name="Google Shape;39;p5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2" name="Google Shape;42;p6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43" name="Google Shape;43;p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6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46" name="Google Shape;46;p6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9" name="Google Shape;49;p7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50" name="Google Shape;50;p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7"/>
          <p:cNvSpPr txBox="1"/>
          <p:nvPr>
            <p:ph type="title"/>
          </p:nvPr>
        </p:nvSpPr>
        <p:spPr>
          <a:xfrm>
            <a:off x="730000" y="1318650"/>
            <a:ext cx="3300900" cy="138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53" name="Google Shape;53;p7"/>
          <p:cNvSpPr txBox="1"/>
          <p:nvPr>
            <p:ph idx="1" type="body"/>
          </p:nvPr>
        </p:nvSpPr>
        <p:spPr>
          <a:xfrm>
            <a:off x="721225" y="2781725"/>
            <a:ext cx="3300900" cy="159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7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oogle Shape;56;p8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57" name="Google Shape;57;p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" name="Google Shape;58;p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9" name="Google Shape;59;p8"/>
          <p:cNvSpPr txBox="1"/>
          <p:nvPr>
            <p:ph type="title"/>
          </p:nvPr>
        </p:nvSpPr>
        <p:spPr>
          <a:xfrm>
            <a:off x="729450" y="864300"/>
            <a:ext cx="7021200" cy="2985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0" name="Google Shape;60;p8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3" name="Google Shape;63;p9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64" name="Google Shape;64;p9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9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9"/>
          <p:cNvSpPr txBox="1"/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67" name="Google Shape;67;p9"/>
          <p:cNvSpPr txBox="1"/>
          <p:nvPr>
            <p:ph idx="1" type="subTitle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68" name="Google Shape;68;p9"/>
          <p:cNvSpPr txBox="1"/>
          <p:nvPr>
            <p:ph idx="2" type="body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9" name="Google Shape;69;p9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0"/>
          <p:cNvSpPr txBox="1"/>
          <p:nvPr>
            <p:ph idx="1" type="body"/>
          </p:nvPr>
        </p:nvSpPr>
        <p:spPr>
          <a:xfrm>
            <a:off x="724950" y="4372551"/>
            <a:ext cx="7697400" cy="46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72" name="Google Shape;72;p10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oogle Shape;74;p11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75" name="Google Shape;75;p1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1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7" name="Google Shape;77;p11"/>
          <p:cNvSpPr txBox="1"/>
          <p:nvPr>
            <p:ph hasCustomPrompt="1" type="title"/>
          </p:nvPr>
        </p:nvSpPr>
        <p:spPr>
          <a:xfrm>
            <a:off x="729450" y="733950"/>
            <a:ext cx="7688400" cy="124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8" name="Google Shape;78;p11"/>
          <p:cNvSpPr txBox="1"/>
          <p:nvPr>
            <p:ph idx="1" type="body"/>
          </p:nvPr>
        </p:nvSpPr>
        <p:spPr>
          <a:xfrm>
            <a:off x="729450" y="2272888"/>
            <a:ext cx="7688400" cy="158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9" name="Google Shape;79;p1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treamlin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7.png"/><Relationship Id="rId4" Type="http://schemas.openxmlformats.org/officeDocument/2006/relationships/image" Target="../media/image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9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Relationship Id="rId4" Type="http://schemas.openxmlformats.org/officeDocument/2006/relationships/image" Target="../media/image1.png"/><Relationship Id="rId5" Type="http://schemas.openxmlformats.org/officeDocument/2006/relationships/image" Target="../media/image10.png"/><Relationship Id="rId6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png"/><Relationship Id="rId4" Type="http://schemas.openxmlformats.org/officeDocument/2006/relationships/image" Target="../media/image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0.png"/><Relationship Id="rId4" Type="http://schemas.openxmlformats.org/officeDocument/2006/relationships/image" Target="../media/image13.png"/><Relationship Id="rId5" Type="http://schemas.openxmlformats.org/officeDocument/2006/relationships/image" Target="../media/image14.png"/><Relationship Id="rId6" Type="http://schemas.openxmlformats.org/officeDocument/2006/relationships/image" Target="../media/image16.png"/><Relationship Id="rId7" Type="http://schemas.openxmlformats.org/officeDocument/2006/relationships/image" Target="../media/image15.png"/><Relationship Id="rId8" Type="http://schemas.openxmlformats.org/officeDocument/2006/relationships/image" Target="../media/image9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Relationship Id="rId4" Type="http://schemas.openxmlformats.org/officeDocument/2006/relationships/image" Target="../media/image18.png"/><Relationship Id="rId5" Type="http://schemas.openxmlformats.org/officeDocument/2006/relationships/image" Target="../media/image1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1.png"/><Relationship Id="rId4" Type="http://schemas.openxmlformats.org/officeDocument/2006/relationships/image" Target="../media/image2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2"/>
        </a:solidFill>
      </p:bgPr>
    </p:bg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3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3000">
                <a:latin typeface="Inter Light"/>
                <a:ea typeface="Inter Light"/>
                <a:cs typeface="Inter Light"/>
                <a:sym typeface="Inter Light"/>
              </a:rPr>
              <a:t>Exploratory Data Analysis of Consumer Complaint Patterns and Company Responsiveness (2020-2025)</a:t>
            </a:r>
            <a:endParaRPr b="0" sz="3000">
              <a:latin typeface="Inter Light"/>
              <a:ea typeface="Inter Light"/>
              <a:cs typeface="Inter Light"/>
              <a:sym typeface="Inter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4000"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87" name="Google Shape;87;p13"/>
          <p:cNvSpPr txBox="1"/>
          <p:nvPr>
            <p:ph idx="4294967295" type="subTitle"/>
          </p:nvPr>
        </p:nvSpPr>
        <p:spPr>
          <a:xfrm>
            <a:off x="272350" y="4377150"/>
            <a:ext cx="2257500" cy="68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Inter Light"/>
              <a:ea typeface="Inter Light"/>
              <a:cs typeface="Inter Light"/>
              <a:sym typeface="Inter Light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13"/>
          <p:cNvSpPr txBox="1"/>
          <p:nvPr>
            <p:ph idx="1" type="subTitle"/>
          </p:nvPr>
        </p:nvSpPr>
        <p:spPr>
          <a:xfrm>
            <a:off x="729450" y="3588850"/>
            <a:ext cx="7688100" cy="111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1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latin typeface="Inter"/>
                <a:ea typeface="Inter"/>
                <a:cs typeface="Inter"/>
                <a:sym typeface="Inter"/>
              </a:rPr>
              <a:t>Call Center Data: Consumer Financial protection Bureau</a:t>
            </a:r>
            <a:endParaRPr sz="1400"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400"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300">
                <a:solidFill>
                  <a:schemeClr val="dk2"/>
                </a:solidFill>
                <a:latin typeface="Inter Light"/>
                <a:ea typeface="Inter Light"/>
                <a:cs typeface="Inter Light"/>
                <a:sym typeface="Inter Light"/>
              </a:rPr>
              <a:t>														Deepali Poudel</a:t>
            </a:r>
            <a:endParaRPr sz="1300">
              <a:solidFill>
                <a:schemeClr val="dk2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4"/>
          <p:cNvSpPr txBox="1"/>
          <p:nvPr>
            <p:ph idx="1" type="body"/>
          </p:nvPr>
        </p:nvSpPr>
        <p:spPr>
          <a:xfrm>
            <a:off x="571325" y="4683001"/>
            <a:ext cx="7697400" cy="46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latin typeface="Inter ExtraLight"/>
                <a:ea typeface="Inter ExtraLight"/>
                <a:cs typeface="Inter ExtraLight"/>
                <a:sym typeface="Inter ExtraLight"/>
              </a:rPr>
              <a:t>Screenshot from: Tableau</a:t>
            </a:r>
            <a:endParaRPr i="1"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pic>
        <p:nvPicPr>
          <p:cNvPr id="94" name="Google Shape;94;p14" title="Screenshot 2025-11-07 at 2.33.22 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73450" y="45200"/>
            <a:ext cx="6045201" cy="4560424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14" title="Screenshot 2025-11-07 at 2.33.28 AM.png"/>
          <p:cNvPicPr preferRelativeResize="0"/>
          <p:nvPr/>
        </p:nvPicPr>
        <p:blipFill rotWithShape="1">
          <a:blip r:embed="rId4">
            <a:alphaModFix/>
          </a:blip>
          <a:srcRect b="10186" l="6916" r="5861" t="6591"/>
          <a:stretch/>
        </p:blipFill>
        <p:spPr>
          <a:xfrm>
            <a:off x="7281977" y="3116975"/>
            <a:ext cx="1784273" cy="729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5"/>
          <p:cNvSpPr txBox="1"/>
          <p:nvPr>
            <p:ph idx="1" type="body"/>
          </p:nvPr>
        </p:nvSpPr>
        <p:spPr>
          <a:xfrm>
            <a:off x="75850" y="4097174"/>
            <a:ext cx="6112200" cy="735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latin typeface="Inter ExtraLight"/>
                <a:ea typeface="Inter ExtraLight"/>
                <a:cs typeface="Inter ExtraLight"/>
                <a:sym typeface="Inter ExtraLight"/>
              </a:rPr>
              <a:t>Dashboard </a:t>
            </a:r>
            <a:r>
              <a:rPr i="1" lang="en" sz="1100">
                <a:latin typeface="Inter ExtraLight"/>
                <a:ea typeface="Inter ExtraLight"/>
                <a:cs typeface="Inter ExtraLight"/>
                <a:sym typeface="Inter ExtraLight"/>
              </a:rPr>
              <a:t>Screenshot </a:t>
            </a:r>
            <a:endParaRPr i="1" sz="1100">
              <a:latin typeface="Inter ExtraLight"/>
              <a:ea typeface="Inter ExtraLight"/>
              <a:cs typeface="Inter ExtraLight"/>
              <a:sym typeface="Inter Extra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latin typeface="Inter ExtraLight"/>
                <a:ea typeface="Inter ExtraLight"/>
                <a:cs typeface="Inter ExtraLight"/>
                <a:sym typeface="Inter ExtraLight"/>
              </a:rPr>
              <a:t>from: Tableau</a:t>
            </a:r>
            <a:endParaRPr sz="1100"/>
          </a:p>
        </p:txBody>
      </p:sp>
      <p:pic>
        <p:nvPicPr>
          <p:cNvPr id="101" name="Google Shape;101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40491" y="0"/>
            <a:ext cx="6985354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2"/>
        </a:solidFill>
      </p:bgPr>
    </p:bg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6"/>
          <p:cNvSpPr txBox="1"/>
          <p:nvPr>
            <p:ph idx="2" type="body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sz="1200"/>
          </a:p>
        </p:txBody>
      </p:sp>
      <p:pic>
        <p:nvPicPr>
          <p:cNvPr id="107" name="Google Shape;107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49049" y="33525"/>
            <a:ext cx="6788301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16"/>
          <p:cNvSpPr txBox="1"/>
          <p:nvPr>
            <p:ph idx="1" type="subTitle"/>
          </p:nvPr>
        </p:nvSpPr>
        <p:spPr>
          <a:xfrm>
            <a:off x="86250" y="2409650"/>
            <a:ext cx="3300900" cy="75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  <a:latin typeface="Inter Light"/>
                <a:ea typeface="Inter Light"/>
                <a:cs typeface="Inter Light"/>
                <a:sym typeface="Inter Light"/>
              </a:rPr>
              <a:t>Legend: Solution Provided </a:t>
            </a:r>
            <a:endParaRPr sz="1200">
              <a:solidFill>
                <a:schemeClr val="dk2"/>
              </a:solidFill>
              <a:latin typeface="Inter Light"/>
              <a:ea typeface="Inter Light"/>
              <a:cs typeface="Inter Light"/>
              <a:sym typeface="Inter Light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  <a:latin typeface="Inter Light"/>
                <a:ea typeface="Inter Light"/>
                <a:cs typeface="Inter Light"/>
                <a:sym typeface="Inter Light"/>
              </a:rPr>
              <a:t>by Companies </a:t>
            </a:r>
            <a:endParaRPr sz="1200">
              <a:solidFill>
                <a:schemeClr val="dk2"/>
              </a:solidFill>
              <a:latin typeface="Inter Light"/>
              <a:ea typeface="Inter Light"/>
              <a:cs typeface="Inter Light"/>
              <a:sym typeface="Inter Light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7"/>
          <p:cNvSpPr txBox="1"/>
          <p:nvPr>
            <p:ph type="title"/>
          </p:nvPr>
        </p:nvSpPr>
        <p:spPr>
          <a:xfrm>
            <a:off x="727800" y="1855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0" lang="en" sz="2040">
                <a:latin typeface="Inter ExtraLight"/>
                <a:ea typeface="Inter ExtraLight"/>
                <a:cs typeface="Inter ExtraLight"/>
                <a:sym typeface="Inter ExtraLight"/>
              </a:rPr>
              <a:t>Consumer Complaint - Company Response Timeliness</a:t>
            </a:r>
            <a:endParaRPr b="0" sz="2040"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pic>
        <p:nvPicPr>
          <p:cNvPr id="114" name="Google Shape;114;p17" title="Screenshot 2025-11-06 at 11.44.54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3000" y="1003700"/>
            <a:ext cx="4629150" cy="266288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" name="Google Shape;115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22150" y="1060179"/>
            <a:ext cx="3694050" cy="2480492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718800" y="3626150"/>
            <a:ext cx="2231725" cy="1329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1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351576" y="3767213"/>
            <a:ext cx="2196245" cy="1047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" name="Google Shape;122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166711" y="1191025"/>
            <a:ext cx="5179875" cy="3311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" name="Google Shape;123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60650" y="1310450"/>
            <a:ext cx="4532099" cy="2522600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18"/>
          <p:cNvSpPr txBox="1"/>
          <p:nvPr>
            <p:ph type="title"/>
          </p:nvPr>
        </p:nvSpPr>
        <p:spPr>
          <a:xfrm>
            <a:off x="761800" y="267615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0" lang="en" sz="2040">
                <a:latin typeface="Inter ExtraLight"/>
                <a:ea typeface="Inter ExtraLight"/>
                <a:cs typeface="Inter ExtraLight"/>
                <a:sym typeface="Inter ExtraLight"/>
              </a:rPr>
              <a:t>Majority in Companies and Product Dissatisfaction</a:t>
            </a:r>
            <a:endParaRPr b="0" sz="2040"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9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‹#›</a:t>
            </a:fld>
            <a:endParaRPr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30" name="Google Shape;130;p19"/>
          <p:cNvSpPr txBox="1"/>
          <p:nvPr>
            <p:ph type="title"/>
          </p:nvPr>
        </p:nvSpPr>
        <p:spPr>
          <a:xfrm>
            <a:off x="370750" y="230320"/>
            <a:ext cx="8520600" cy="50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45720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2100">
                <a:latin typeface="Inter ExtraLight"/>
                <a:ea typeface="Inter ExtraLight"/>
                <a:cs typeface="Inter ExtraLight"/>
                <a:sym typeface="Inter ExtraLight"/>
              </a:rPr>
              <a:t>Solution Provided by Companies: Quarterly</a:t>
            </a:r>
            <a:endParaRPr b="0" sz="2100"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pic>
        <p:nvPicPr>
          <p:cNvPr id="131" name="Google Shape;131;p19" title="Screenshot 2025-11-06 at 7.18.40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44600" y="2991238"/>
            <a:ext cx="2128125" cy="2128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19" title="Screenshot 2025-11-06 at 7.19.12 P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70750" y="858353"/>
            <a:ext cx="2383499" cy="2128142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p19" title="Screenshot 2025-11-06 at 7.19.50 PM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276400" y="850298"/>
            <a:ext cx="2383499" cy="2128121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" name="Google Shape;134;p19" title="Screenshot 2025-11-06 at 7.20.41 PM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076926" y="906877"/>
            <a:ext cx="2383501" cy="2128142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" name="Google Shape;135;p19" title="Screenshot 2025-11-06 at 7.21.11 PM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78870" y="3015374"/>
            <a:ext cx="2383504" cy="21281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" name="Google Shape;136;p19" title="Screenshot 2025-11-06 at 7.21.47 PM.pn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276426" y="3070157"/>
            <a:ext cx="2383500" cy="212814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1" name="Google Shape;141;p20" title="Screenshot 2025-11-06 at 8.31.46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95797" y="4633260"/>
            <a:ext cx="5039026" cy="477900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20"/>
          <p:cNvSpPr txBox="1"/>
          <p:nvPr>
            <p:ph idx="4294967295"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457200" lvl="0" marL="137160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0" lang="en" sz="1820">
                <a:latin typeface="Inter ExtraLight"/>
                <a:ea typeface="Inter ExtraLight"/>
                <a:cs typeface="Inter ExtraLight"/>
                <a:sym typeface="Inter ExtraLight"/>
              </a:rPr>
              <a:t>Solution Provided by Companies: Quarterly</a:t>
            </a:r>
            <a:endParaRPr b="0" sz="1820">
              <a:latin typeface="Inter ExtraLight"/>
              <a:ea typeface="Inter ExtraLight"/>
              <a:cs typeface="Inter ExtraLight"/>
              <a:sym typeface="Inter Extra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2520"/>
          </a:p>
        </p:txBody>
      </p:sp>
      <p:pic>
        <p:nvPicPr>
          <p:cNvPr id="143" name="Google Shape;143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0137" y="965205"/>
            <a:ext cx="4318248" cy="361922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4" name="Google Shape;144;p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474938" y="973285"/>
            <a:ext cx="4616986" cy="36192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9" name="Google Shape;149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44575" y="152400"/>
            <a:ext cx="4351134" cy="4838698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21"/>
          <p:cNvSpPr txBox="1"/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2100">
                <a:latin typeface="Inter ExtraLight"/>
                <a:ea typeface="Inter ExtraLight"/>
                <a:cs typeface="Inter ExtraLight"/>
                <a:sym typeface="Inter ExtraLight"/>
              </a:rPr>
              <a:t>Solution Provided by Companies </a:t>
            </a:r>
            <a:endParaRPr b="0" sz="2100">
              <a:latin typeface="Inter ExtraLight"/>
              <a:ea typeface="Inter ExtraLight"/>
              <a:cs typeface="Inter ExtraLight"/>
              <a:sym typeface="Inter Extra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2100">
                <a:latin typeface="Inter ExtraLight"/>
                <a:ea typeface="Inter ExtraLight"/>
                <a:cs typeface="Inter ExtraLight"/>
                <a:sym typeface="Inter ExtraLight"/>
              </a:rPr>
              <a:t>Analysis: Monthly</a:t>
            </a:r>
            <a:endParaRPr b="0" sz="2100">
              <a:latin typeface="Inter ExtraLight"/>
              <a:ea typeface="Inter ExtraLight"/>
              <a:cs typeface="Inter ExtraLight"/>
              <a:sym typeface="Inter Extra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2"/>
          <p:cNvSpPr txBox="1"/>
          <p:nvPr>
            <p:ph type="title"/>
          </p:nvPr>
        </p:nvSpPr>
        <p:spPr>
          <a:xfrm>
            <a:off x="821700" y="506925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820">
                <a:latin typeface="Inter ExtraLight"/>
                <a:ea typeface="Inter ExtraLight"/>
                <a:cs typeface="Inter ExtraLight"/>
                <a:sym typeface="Inter ExtraLight"/>
              </a:rPr>
              <a:t>Solution Provided by top 10 Companies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56" name="Google Shape;156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82789" y="1815750"/>
            <a:ext cx="5398100" cy="2418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" name="Google Shape;157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40100" y="1723376"/>
            <a:ext cx="3990427" cy="22645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2"/>
        </a:solidFill>
      </p:bgPr>
    </p:bg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3"/>
          <p:cNvSpPr txBox="1"/>
          <p:nvPr>
            <p:ph type="title"/>
          </p:nvPr>
        </p:nvSpPr>
        <p:spPr>
          <a:xfrm>
            <a:off x="689025" y="356925"/>
            <a:ext cx="7688400" cy="72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2700">
                <a:latin typeface="Inter ExtraLight"/>
                <a:ea typeface="Inter ExtraLight"/>
                <a:cs typeface="Inter ExtraLight"/>
                <a:sym typeface="Inter ExtraLight"/>
              </a:rPr>
              <a:t>Key Findings-Complaint Analysis</a:t>
            </a:r>
            <a:endParaRPr b="0" sz="2700"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>
        <p:nvSpPr>
          <p:cNvPr id="163" name="Google Shape;163;p23"/>
          <p:cNvSpPr txBox="1"/>
          <p:nvPr>
            <p:ph idx="4294967295" type="body"/>
          </p:nvPr>
        </p:nvSpPr>
        <p:spPr>
          <a:xfrm>
            <a:off x="186100" y="1368350"/>
            <a:ext cx="8129100" cy="335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75"/>
              <a:buNone/>
            </a:pPr>
            <a:r>
              <a:rPr lang="en" sz="85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Credit Reporting Dominates Complaints</a:t>
            </a:r>
            <a:br>
              <a:rPr lang="en" sz="850">
                <a:solidFill>
                  <a:schemeClr val="lt1"/>
                </a:solidFill>
                <a:latin typeface="Inter Light"/>
                <a:ea typeface="Inter Light"/>
                <a:cs typeface="Inter Light"/>
                <a:sym typeface="Inter Light"/>
              </a:rPr>
            </a:br>
            <a:r>
              <a:rPr lang="en" sz="850">
                <a:solidFill>
                  <a:schemeClr val="lt1"/>
                </a:solidFill>
                <a:latin typeface="Inter Light"/>
                <a:ea typeface="Inter Light"/>
                <a:cs typeface="Inter Light"/>
                <a:sym typeface="Inter Light"/>
              </a:rPr>
              <a:t>Over 85% of total consumer complaints were related to </a:t>
            </a:r>
            <a:r>
              <a:rPr i="1" lang="en" sz="850">
                <a:solidFill>
                  <a:schemeClr val="lt1"/>
                </a:solidFill>
                <a:latin typeface="Inter Light"/>
                <a:ea typeface="Inter Light"/>
                <a:cs typeface="Inter Light"/>
                <a:sym typeface="Inter Light"/>
              </a:rPr>
              <a:t>credit reporting and credit repair services</a:t>
            </a:r>
            <a:r>
              <a:rPr lang="en" sz="850">
                <a:solidFill>
                  <a:schemeClr val="lt1"/>
                </a:solidFill>
                <a:latin typeface="Inter Light"/>
                <a:ea typeface="Inter Light"/>
                <a:cs typeface="Inter Light"/>
                <a:sym typeface="Inter Light"/>
              </a:rPr>
              <a:t>, primarily involving Experian, Equifax, and TransUnion — indicating ongoing dissatisfaction in credit data accuracy and dispute handling.</a:t>
            </a:r>
            <a:endParaRPr sz="850">
              <a:solidFill>
                <a:schemeClr val="lt1"/>
              </a:solidFill>
              <a:latin typeface="Inter Light"/>
              <a:ea typeface="Inter Light"/>
              <a:cs typeface="Inter Light"/>
              <a:sym typeface="Inter Light"/>
            </a:endParaRPr>
          </a:p>
          <a:p>
            <a:pPr indent="0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75"/>
              <a:buNone/>
            </a:pPr>
            <a:r>
              <a:rPr lang="en" sz="85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Web is the Primary Submission Channel</a:t>
            </a:r>
            <a:br>
              <a:rPr lang="en" sz="850">
                <a:solidFill>
                  <a:schemeClr val="lt1"/>
                </a:solidFill>
                <a:latin typeface="Inter Light"/>
                <a:ea typeface="Inter Light"/>
                <a:cs typeface="Inter Light"/>
                <a:sym typeface="Inter Light"/>
              </a:rPr>
            </a:br>
            <a:r>
              <a:rPr lang="en" sz="850">
                <a:solidFill>
                  <a:schemeClr val="lt1"/>
                </a:solidFill>
                <a:latin typeface="Inter Light"/>
                <a:ea typeface="Inter Light"/>
                <a:cs typeface="Inter Light"/>
                <a:sym typeface="Inter Light"/>
              </a:rPr>
              <a:t>The majority of complaints were submitted online, suggesting consumers prefer fast, digital methods for dispute resolution. </a:t>
            </a:r>
            <a:r>
              <a:rPr i="1" lang="en" sz="850">
                <a:solidFill>
                  <a:schemeClr val="lt1"/>
                </a:solidFill>
                <a:latin typeface="Inter Light"/>
                <a:ea typeface="Inter Light"/>
                <a:cs typeface="Inter Light"/>
                <a:sym typeface="Inter Light"/>
              </a:rPr>
              <a:t>Fax and referral submissions are almost obsolete.</a:t>
            </a:r>
            <a:endParaRPr i="1" sz="850">
              <a:solidFill>
                <a:schemeClr val="lt1"/>
              </a:solidFill>
              <a:latin typeface="Inter Light"/>
              <a:ea typeface="Inter Light"/>
              <a:cs typeface="Inter Light"/>
              <a:sym typeface="Inter Light"/>
            </a:endParaRPr>
          </a:p>
          <a:p>
            <a:pPr indent="0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75"/>
              <a:buNone/>
            </a:pPr>
            <a:r>
              <a:rPr lang="en" sz="85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Geographic Concentration in High-Population States</a:t>
            </a:r>
            <a:br>
              <a:rPr lang="en" sz="850">
                <a:solidFill>
                  <a:schemeClr val="lt1"/>
                </a:solidFill>
                <a:latin typeface="Inter Light"/>
                <a:ea typeface="Inter Light"/>
                <a:cs typeface="Inter Light"/>
                <a:sym typeface="Inter Light"/>
              </a:rPr>
            </a:br>
            <a:r>
              <a:rPr lang="en" sz="850">
                <a:solidFill>
                  <a:schemeClr val="lt1"/>
                </a:solidFill>
                <a:latin typeface="Inter Light"/>
                <a:ea typeface="Inter Light"/>
                <a:cs typeface="Inter Light"/>
                <a:sym typeface="Inter Light"/>
              </a:rPr>
              <a:t>States such as Texas, Florida, and California recorded the highest complaint volumes, mirroring their population density and higher consumer activity levels.</a:t>
            </a:r>
            <a:endParaRPr sz="850">
              <a:solidFill>
                <a:schemeClr val="lt1"/>
              </a:solidFill>
              <a:latin typeface="Inter Light"/>
              <a:ea typeface="Inter Light"/>
              <a:cs typeface="Inter Light"/>
              <a:sym typeface="Inter Light"/>
            </a:endParaRPr>
          </a:p>
          <a:p>
            <a:pPr indent="0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75"/>
              <a:buNone/>
            </a:pPr>
            <a:r>
              <a:rPr lang="en" sz="850">
                <a:solidFill>
                  <a:schemeClr val="lt1"/>
                </a:solidFill>
                <a:latin typeface="Inter Light"/>
                <a:ea typeface="Inter Light"/>
                <a:cs typeface="Inter Light"/>
                <a:sym typeface="Inter Light"/>
              </a:rPr>
              <a:t>Co</a:t>
            </a:r>
            <a:r>
              <a:rPr lang="en" sz="85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mpany Response Patterns Show Consistency</a:t>
            </a:r>
            <a:br>
              <a:rPr lang="en" sz="850">
                <a:solidFill>
                  <a:schemeClr val="lt1"/>
                </a:solidFill>
                <a:latin typeface="Inter Light"/>
                <a:ea typeface="Inter Light"/>
                <a:cs typeface="Inter Light"/>
                <a:sym typeface="Inter Light"/>
              </a:rPr>
            </a:br>
            <a:r>
              <a:rPr lang="en" sz="850">
                <a:solidFill>
                  <a:schemeClr val="lt1"/>
                </a:solidFill>
                <a:latin typeface="Inter Light"/>
                <a:ea typeface="Inter Light"/>
                <a:cs typeface="Inter Light"/>
                <a:sym typeface="Inter Light"/>
              </a:rPr>
              <a:t>Most companies resolve cases as </a:t>
            </a:r>
            <a:r>
              <a:rPr i="1" lang="en" sz="850">
                <a:solidFill>
                  <a:schemeClr val="lt1"/>
                </a:solidFill>
                <a:latin typeface="Inter Light"/>
                <a:ea typeface="Inter Light"/>
                <a:cs typeface="Inter Light"/>
                <a:sym typeface="Inter Light"/>
              </a:rPr>
              <a:t>“Closed with explanation”</a:t>
            </a:r>
            <a:r>
              <a:rPr lang="en" sz="850">
                <a:solidFill>
                  <a:schemeClr val="lt1"/>
                </a:solidFill>
                <a:latin typeface="Inter Light"/>
                <a:ea typeface="Inter Light"/>
                <a:cs typeface="Inter Light"/>
                <a:sym typeface="Inter Light"/>
              </a:rPr>
              <a:t>, while a minimal share involve monetary relief or remain in progress. This suggests that explanations are the predominant method of dispute closure, but not necessarily full consumer satisfaction.</a:t>
            </a:r>
            <a:br>
              <a:rPr lang="en" sz="850">
                <a:solidFill>
                  <a:schemeClr val="lt1"/>
                </a:solidFill>
                <a:latin typeface="Inter Light"/>
                <a:ea typeface="Inter Light"/>
                <a:cs typeface="Inter Light"/>
                <a:sym typeface="Inter Light"/>
              </a:rPr>
            </a:br>
            <a:endParaRPr sz="850">
              <a:solidFill>
                <a:schemeClr val="lt1"/>
              </a:solidFill>
              <a:latin typeface="Inter Light"/>
              <a:ea typeface="Inter Light"/>
              <a:cs typeface="Inter Light"/>
              <a:sym typeface="Inter Light"/>
            </a:endParaRPr>
          </a:p>
          <a:p>
            <a:pPr indent="0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75"/>
              <a:buNone/>
            </a:pPr>
            <a:r>
              <a:rPr lang="en" sz="85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Quarterly Analysis Shows Stability in Response Trends</a:t>
            </a:r>
            <a:br>
              <a:rPr lang="en" sz="850">
                <a:solidFill>
                  <a:schemeClr val="lt1"/>
                </a:solidFill>
                <a:latin typeface="Inter Light"/>
                <a:ea typeface="Inter Light"/>
                <a:cs typeface="Inter Light"/>
                <a:sym typeface="Inter Light"/>
              </a:rPr>
            </a:br>
            <a:r>
              <a:rPr lang="en" sz="850">
                <a:solidFill>
                  <a:schemeClr val="lt1"/>
                </a:solidFill>
                <a:latin typeface="Inter Light"/>
                <a:ea typeface="Inter Light"/>
                <a:cs typeface="Inter Light"/>
                <a:sym typeface="Inter Light"/>
              </a:rPr>
              <a:t>Across quarters, the proportion of response types remains consistent, with Q3 showing a slight spike in complaint volume — likely due to cyclical financial activities (e.g., midyear credit updates or loan cycles).</a:t>
            </a:r>
            <a:endParaRPr sz="850">
              <a:solidFill>
                <a:schemeClr val="lt1"/>
              </a:solidFill>
              <a:latin typeface="Inter Light"/>
              <a:ea typeface="Inter Light"/>
              <a:cs typeface="Inter Light"/>
              <a:sym typeface="Inter Light"/>
            </a:endParaRPr>
          </a:p>
          <a:p>
            <a:pPr indent="0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75"/>
              <a:buNone/>
            </a:pPr>
            <a:r>
              <a:rPr lang="en" sz="85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Consumer Frustration Themes Are Repetitive</a:t>
            </a:r>
            <a:br>
              <a:rPr lang="en" sz="850">
                <a:solidFill>
                  <a:schemeClr val="lt1"/>
                </a:solidFill>
                <a:latin typeface="Inter Light"/>
                <a:ea typeface="Inter Light"/>
                <a:cs typeface="Inter Light"/>
                <a:sym typeface="Inter Light"/>
              </a:rPr>
            </a:br>
            <a:r>
              <a:rPr lang="en" sz="850">
                <a:solidFill>
                  <a:schemeClr val="lt1"/>
                </a:solidFill>
                <a:latin typeface="Inter Light"/>
                <a:ea typeface="Inter Light"/>
                <a:cs typeface="Inter Light"/>
                <a:sym typeface="Inter Light"/>
              </a:rPr>
              <a:t>The top reported issues — “incorrect information,” “account belonging to someone else,” and “investigation delays” — reveal that systemic data handling issues persist, not isolated cases.</a:t>
            </a:r>
            <a:endParaRPr sz="850">
              <a:solidFill>
                <a:schemeClr val="lt1"/>
              </a:solidFill>
              <a:latin typeface="Inter Light"/>
              <a:ea typeface="Inter Light"/>
              <a:cs typeface="Inter Light"/>
              <a:sym typeface="Inter Light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75"/>
              <a:buNone/>
            </a:pPr>
            <a:r>
              <a:t/>
            </a:r>
            <a:endParaRPr sz="350">
              <a:solidFill>
                <a:schemeClr val="lt1"/>
              </a:solidFill>
              <a:latin typeface="Inter Light"/>
              <a:ea typeface="Inter Light"/>
              <a:cs typeface="Inter Light"/>
              <a:sym typeface="Inter Light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SzPts val="275"/>
              <a:buNone/>
            </a:pPr>
            <a:r>
              <a:t/>
            </a:r>
            <a:endParaRPr sz="350">
              <a:solidFill>
                <a:schemeClr val="lt1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2"/>
        </a:solidFill>
      </p:bgPr>
    </p:bg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24"/>
          <p:cNvSpPr txBox="1"/>
          <p:nvPr>
            <p:ph type="title"/>
          </p:nvPr>
        </p:nvSpPr>
        <p:spPr>
          <a:xfrm>
            <a:off x="698700" y="690925"/>
            <a:ext cx="7688400" cy="124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2000">
                <a:latin typeface="Inter Light"/>
                <a:ea typeface="Inter Light"/>
                <a:cs typeface="Inter Light"/>
                <a:sym typeface="Inter Light"/>
              </a:rPr>
              <a:t>Strategic Recommendations and Next Steps</a:t>
            </a:r>
            <a:endParaRPr b="0" sz="2000"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169" name="Google Shape;169;p24"/>
          <p:cNvSpPr txBox="1"/>
          <p:nvPr>
            <p:ph idx="1" type="body"/>
          </p:nvPr>
        </p:nvSpPr>
        <p:spPr>
          <a:xfrm>
            <a:off x="729450" y="1325324"/>
            <a:ext cx="7688400" cy="252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rPr lang="en" sz="1025">
                <a:latin typeface="Inter Light"/>
                <a:ea typeface="Inter Light"/>
                <a:cs typeface="Inter Light"/>
                <a:sym typeface="Inter Light"/>
              </a:rPr>
              <a:t>1. Strengthen Data Accuracy Controls</a:t>
            </a:r>
            <a:endParaRPr sz="1025">
              <a:latin typeface="Inter Light"/>
              <a:ea typeface="Inter Light"/>
              <a:cs typeface="Inter Light"/>
              <a:sym typeface="Inter Light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t/>
            </a:r>
            <a:endParaRPr sz="1025">
              <a:latin typeface="Inter Light"/>
              <a:ea typeface="Inter Light"/>
              <a:cs typeface="Inter Light"/>
              <a:sym typeface="Inter Light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rPr lang="en" sz="1025">
                <a:latin typeface="Inter Light"/>
                <a:ea typeface="Inter Light"/>
                <a:cs typeface="Inter Light"/>
                <a:sym typeface="Inter Light"/>
              </a:rPr>
              <a:t>2. Improve Resolution Transparency</a:t>
            </a:r>
            <a:endParaRPr sz="1025">
              <a:latin typeface="Inter Light"/>
              <a:ea typeface="Inter Light"/>
              <a:cs typeface="Inter Light"/>
              <a:sym typeface="Inter Light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t/>
            </a:r>
            <a:endParaRPr sz="1025">
              <a:latin typeface="Inter Light"/>
              <a:ea typeface="Inter Light"/>
              <a:cs typeface="Inter Light"/>
              <a:sym typeface="Inter Light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rPr lang="en" sz="1025">
                <a:latin typeface="Inter Light"/>
                <a:ea typeface="Inter Light"/>
                <a:cs typeface="Inter Light"/>
                <a:sym typeface="Inter Light"/>
              </a:rPr>
              <a:t>3. Optimize Digital Complaint Channels</a:t>
            </a:r>
            <a:endParaRPr sz="1025">
              <a:latin typeface="Inter Light"/>
              <a:ea typeface="Inter Light"/>
              <a:cs typeface="Inter Light"/>
              <a:sym typeface="Inter Light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t/>
            </a:r>
            <a:endParaRPr sz="1025">
              <a:latin typeface="Inter Light"/>
              <a:ea typeface="Inter Light"/>
              <a:cs typeface="Inter Light"/>
              <a:sym typeface="Inter Light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rPr lang="en" sz="1025">
                <a:latin typeface="Inter Light"/>
                <a:ea typeface="Inter Light"/>
                <a:cs typeface="Inter Light"/>
                <a:sym typeface="Inter Light"/>
              </a:rPr>
              <a:t>4. Monitor High-Volume States Proactively</a:t>
            </a:r>
            <a:endParaRPr sz="1025">
              <a:latin typeface="Inter Light"/>
              <a:ea typeface="Inter Light"/>
              <a:cs typeface="Inter Light"/>
              <a:sym typeface="Inter Light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t/>
            </a:r>
            <a:endParaRPr sz="1025">
              <a:latin typeface="Inter Light"/>
              <a:ea typeface="Inter Light"/>
              <a:cs typeface="Inter Light"/>
              <a:sym typeface="Inter Light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rPr lang="en" sz="1025">
                <a:latin typeface="Inter Light"/>
                <a:ea typeface="Inter Light"/>
                <a:cs typeface="Inter Light"/>
                <a:sym typeface="Inter Light"/>
              </a:rPr>
              <a:t>5. Sustain Timely Responses Through Automation</a:t>
            </a:r>
            <a:endParaRPr sz="1025">
              <a:latin typeface="Inter Light"/>
              <a:ea typeface="Inter Light"/>
              <a:cs typeface="Inter Light"/>
              <a:sym typeface="Inter Light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t/>
            </a:r>
            <a:endParaRPr sz="1025">
              <a:latin typeface="Inter Light"/>
              <a:ea typeface="Inter Light"/>
              <a:cs typeface="Inter Light"/>
              <a:sym typeface="Inter Light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rPr lang="en" sz="1025">
                <a:latin typeface="Inter Light"/>
                <a:ea typeface="Inter Light"/>
                <a:cs typeface="Inter Light"/>
                <a:sym typeface="Inter Light"/>
              </a:rPr>
              <a:t>6. Shift Metrics from Resolution to Prevention</a:t>
            </a:r>
            <a:endParaRPr sz="1025">
              <a:latin typeface="Inter Light"/>
              <a:ea typeface="Inter Light"/>
              <a:cs typeface="Inter Light"/>
              <a:sym typeface="Inter Light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t/>
            </a:r>
            <a:endParaRPr sz="1025">
              <a:latin typeface="Inter Light"/>
              <a:ea typeface="Inter Light"/>
              <a:cs typeface="Inter Light"/>
              <a:sym typeface="Inter Light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rPr lang="en" sz="1025">
                <a:latin typeface="Inter Light"/>
                <a:ea typeface="Inter Light"/>
                <a:cs typeface="Inter Light"/>
                <a:sym typeface="Inter Light"/>
              </a:rPr>
              <a:t>7. Foster Cross-Industry Collaboration</a:t>
            </a:r>
            <a:endParaRPr sz="1025">
              <a:latin typeface="Inter Light"/>
              <a:ea typeface="Inter Light"/>
              <a:cs typeface="Inter Light"/>
              <a:sym typeface="Inter Light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t/>
            </a:r>
            <a:endParaRPr sz="1025">
              <a:latin typeface="Inter Light"/>
              <a:ea typeface="Inter Light"/>
              <a:cs typeface="Inter Light"/>
              <a:sym typeface="Inter Light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t/>
            </a:r>
            <a:endParaRPr sz="1025">
              <a:latin typeface="Inter Light"/>
              <a:ea typeface="Inter Light"/>
              <a:cs typeface="Inter Light"/>
              <a:sym typeface="Inter Light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t/>
            </a:r>
            <a:endParaRPr sz="1025">
              <a:latin typeface="Inter Light"/>
              <a:ea typeface="Inter Light"/>
              <a:cs typeface="Inter Light"/>
              <a:sym typeface="Inter Ligh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4572C4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